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10/1/2023</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10/1/2023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10/1/2023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10/1/2023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10/1/2023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10/1/2023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10/1/2023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10/1/2023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10/1/2023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10/1/2023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10/1/2023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10/1/2023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10/1/2023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10/1/2023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10/1/2023</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10/1/2023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10/1/2023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jpe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10/1/2023</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2E0E2-7B08-AC65-ED43-4ECF3D1B34F4}"/>
              </a:ext>
            </a:extLst>
          </p:cNvPr>
          <p:cNvSpPr>
            <a:spLocks noGrp="1"/>
          </p:cNvSpPr>
          <p:nvPr>
            <p:ph type="ctrTitle"/>
          </p:nvPr>
        </p:nvSpPr>
        <p:spPr/>
        <p:txBody>
          <a:bodyPr/>
          <a:lstStyle/>
          <a:p>
            <a:r>
              <a:rPr lang="en-US" dirty="0"/>
              <a:t>INTERNET OF THINGS </a:t>
            </a:r>
          </a:p>
        </p:txBody>
      </p:sp>
      <p:sp>
        <p:nvSpPr>
          <p:cNvPr id="3" name="Subtitle 2">
            <a:extLst>
              <a:ext uri="{FF2B5EF4-FFF2-40B4-BE49-F238E27FC236}">
                <a16:creationId xmlns:a16="http://schemas.microsoft.com/office/drawing/2014/main" id="{26151DEB-5C57-A392-E891-D4CD07ECA22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60919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F31B7-0406-8655-AE3E-0334E10B507A}"/>
              </a:ext>
            </a:extLst>
          </p:cNvPr>
          <p:cNvSpPr>
            <a:spLocks noGrp="1"/>
          </p:cNvSpPr>
          <p:nvPr>
            <p:ph type="title"/>
          </p:nvPr>
        </p:nvSpPr>
        <p:spPr/>
        <p:txBody>
          <a:bodyPr/>
          <a:lstStyle/>
          <a:p>
            <a:r>
              <a:rPr lang="en-US" dirty="0"/>
              <a:t>Definition </a:t>
            </a:r>
          </a:p>
        </p:txBody>
      </p:sp>
      <p:sp>
        <p:nvSpPr>
          <p:cNvPr id="3" name="Content Placeholder 2">
            <a:extLst>
              <a:ext uri="{FF2B5EF4-FFF2-40B4-BE49-F238E27FC236}">
                <a16:creationId xmlns:a16="http://schemas.microsoft.com/office/drawing/2014/main" id="{1F42E0F2-8A3F-0D75-D5A2-AF23BBC637C5}"/>
              </a:ext>
            </a:extLst>
          </p:cNvPr>
          <p:cNvSpPr>
            <a:spLocks noGrp="1"/>
          </p:cNvSpPr>
          <p:nvPr>
            <p:ph idx="1"/>
          </p:nvPr>
        </p:nvSpPr>
        <p:spPr>
          <a:xfrm>
            <a:off x="1154954" y="2603500"/>
            <a:ext cx="8825659" cy="2462068"/>
          </a:xfrm>
        </p:spPr>
        <p:txBody>
          <a:bodyPr/>
          <a:lstStyle/>
          <a:p>
            <a:r>
              <a:rPr lang="en-GB" b="0" i="0" dirty="0">
                <a:solidFill>
                  <a:srgbClr val="313131"/>
                </a:solidFill>
                <a:effectLst/>
                <a:latin typeface="Montserrat" panose="02000000000000000000" pitchFamily="2" charset="0"/>
              </a:rPr>
              <a:t>The project involves integrating </a:t>
            </a:r>
            <a:r>
              <a:rPr lang="en-GB" b="0" i="0" dirty="0" err="1">
                <a:solidFill>
                  <a:srgbClr val="313131"/>
                </a:solidFill>
                <a:effectLst/>
                <a:latin typeface="Montserrat" panose="02000000000000000000" pitchFamily="2" charset="0"/>
              </a:rPr>
              <a:t>IoT</a:t>
            </a:r>
            <a:r>
              <a:rPr lang="en-GB" b="0" i="0" dirty="0">
                <a:solidFill>
                  <a:srgbClr val="313131"/>
                </a:solidFill>
                <a:effectLst/>
                <a:latin typeface="Montserrat" panose="02000000000000000000" pitchFamily="2" charset="0"/>
              </a:rPr>
              <a:t> sensors into public transportation vehicles to monitor ridership, track locations, and predict arrival times.</a:t>
            </a:r>
            <a:endParaRPr lang="en-US" b="0" i="0" dirty="0">
              <a:solidFill>
                <a:srgbClr val="313131"/>
              </a:solidFill>
              <a:effectLst/>
              <a:latin typeface="Montserrat" panose="02000000000000000000" pitchFamily="2" charset="0"/>
            </a:endParaRPr>
          </a:p>
          <a:p>
            <a:r>
              <a:rPr lang="en-GB" b="0" i="0" dirty="0">
                <a:solidFill>
                  <a:srgbClr val="313131"/>
                </a:solidFill>
                <a:effectLst/>
                <a:latin typeface="Montserrat" panose="02000000000000000000" pitchFamily="2" charset="0"/>
              </a:rPr>
              <a:t> The goal is to provide real-time transit information to the public through a public platform, enhancing the efficiency and quality of public transportation services. </a:t>
            </a:r>
            <a:endParaRPr lang="en-US" b="0" i="0" dirty="0">
              <a:solidFill>
                <a:srgbClr val="313131"/>
              </a:solidFill>
              <a:effectLst/>
              <a:latin typeface="Montserrat" panose="02000000000000000000" pitchFamily="2" charset="0"/>
            </a:endParaRPr>
          </a:p>
          <a:p>
            <a:r>
              <a:rPr lang="en-GB" b="0" i="0" dirty="0">
                <a:solidFill>
                  <a:srgbClr val="313131"/>
                </a:solidFill>
                <a:effectLst/>
                <a:latin typeface="Montserrat" panose="02000000000000000000" pitchFamily="2" charset="0"/>
              </a:rPr>
              <a:t>This project includes defining objectives, designing the </a:t>
            </a:r>
            <a:r>
              <a:rPr lang="en-GB" b="0" i="0" dirty="0" err="1">
                <a:solidFill>
                  <a:srgbClr val="313131"/>
                </a:solidFill>
                <a:effectLst/>
                <a:latin typeface="Montserrat" panose="02000000000000000000" pitchFamily="2" charset="0"/>
              </a:rPr>
              <a:t>IoT</a:t>
            </a:r>
            <a:r>
              <a:rPr lang="en-GB" b="0" i="0" dirty="0">
                <a:solidFill>
                  <a:srgbClr val="313131"/>
                </a:solidFill>
                <a:effectLst/>
                <a:latin typeface="Montserrat" panose="02000000000000000000" pitchFamily="2" charset="0"/>
              </a:rPr>
              <a:t> sensor system, developing the real-time transit information platform, and integrating them using </a:t>
            </a:r>
            <a:r>
              <a:rPr lang="en-GB" b="0" i="0" dirty="0" err="1">
                <a:solidFill>
                  <a:srgbClr val="313131"/>
                </a:solidFill>
                <a:effectLst/>
                <a:latin typeface="Montserrat" panose="02000000000000000000" pitchFamily="2" charset="0"/>
              </a:rPr>
              <a:t>IoT</a:t>
            </a:r>
            <a:r>
              <a:rPr lang="en-GB" b="0" i="0" dirty="0">
                <a:solidFill>
                  <a:srgbClr val="313131"/>
                </a:solidFill>
                <a:effectLst/>
                <a:latin typeface="Montserrat" panose="02000000000000000000" pitchFamily="2" charset="0"/>
              </a:rPr>
              <a:t> technology and Python.</a:t>
            </a:r>
            <a:endParaRPr lang="en-US" dirty="0"/>
          </a:p>
        </p:txBody>
      </p:sp>
    </p:spTree>
    <p:extLst>
      <p:ext uri="{BB962C8B-B14F-4D97-AF65-F5344CB8AC3E}">
        <p14:creationId xmlns:p14="http://schemas.microsoft.com/office/powerpoint/2010/main" val="2800221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E7662-15C8-F28C-9CDD-96DC64A6C746}"/>
              </a:ext>
            </a:extLst>
          </p:cNvPr>
          <p:cNvSpPr>
            <a:spLocks noGrp="1"/>
          </p:cNvSpPr>
          <p:nvPr>
            <p:ph type="title"/>
          </p:nvPr>
        </p:nvSpPr>
        <p:spPr/>
        <p:txBody>
          <a:bodyPr/>
          <a:lstStyle/>
          <a:p>
            <a:r>
              <a:rPr lang="en-US" dirty="0"/>
              <a:t>Design Thinking </a:t>
            </a:r>
          </a:p>
        </p:txBody>
      </p:sp>
      <p:sp>
        <p:nvSpPr>
          <p:cNvPr id="3" name="Content Placeholder 2">
            <a:extLst>
              <a:ext uri="{FF2B5EF4-FFF2-40B4-BE49-F238E27FC236}">
                <a16:creationId xmlns:a16="http://schemas.microsoft.com/office/drawing/2014/main" id="{91128F98-7100-D1FD-F989-6FB4BF069BA9}"/>
              </a:ext>
            </a:extLst>
          </p:cNvPr>
          <p:cNvSpPr>
            <a:spLocks noGrp="1"/>
          </p:cNvSpPr>
          <p:nvPr>
            <p:ph idx="1"/>
          </p:nvPr>
        </p:nvSpPr>
        <p:spPr/>
        <p:txBody>
          <a:bodyPr/>
          <a:lstStyle/>
          <a:p>
            <a:r>
              <a:rPr lang="en-GB" b="0" i="0" dirty="0">
                <a:solidFill>
                  <a:srgbClr val="313131"/>
                </a:solidFill>
                <a:effectLst/>
                <a:latin typeface="Montserrat" panose="02000000000000000000" pitchFamily="2" charset="0"/>
              </a:rPr>
              <a:t>Project Objectives: Define objectives such as real-time transit information, arrival time prediction, ridership monitoring, and enhanced public transportation services.</a:t>
            </a:r>
          </a:p>
          <a:p>
            <a:r>
              <a:rPr lang="en-GB" b="0" i="0" dirty="0" err="1">
                <a:solidFill>
                  <a:srgbClr val="313131"/>
                </a:solidFill>
                <a:effectLst/>
                <a:latin typeface="Montserrat" panose="02000000000000000000" pitchFamily="2" charset="0"/>
              </a:rPr>
              <a:t>IoT</a:t>
            </a:r>
            <a:r>
              <a:rPr lang="en-GB" b="0" i="0" dirty="0">
                <a:solidFill>
                  <a:srgbClr val="313131"/>
                </a:solidFill>
                <a:effectLst/>
                <a:latin typeface="Montserrat" panose="02000000000000000000" pitchFamily="2" charset="0"/>
              </a:rPr>
              <a:t> Sensor Design: Plan the deployment of </a:t>
            </a:r>
            <a:r>
              <a:rPr lang="en-GB" b="0" i="0" dirty="0" err="1">
                <a:solidFill>
                  <a:srgbClr val="313131"/>
                </a:solidFill>
                <a:effectLst/>
                <a:latin typeface="Montserrat" panose="02000000000000000000" pitchFamily="2" charset="0"/>
              </a:rPr>
              <a:t>IoT</a:t>
            </a:r>
            <a:r>
              <a:rPr lang="en-GB" b="0" i="0" dirty="0">
                <a:solidFill>
                  <a:srgbClr val="313131"/>
                </a:solidFill>
                <a:effectLst/>
                <a:latin typeface="Montserrat" panose="02000000000000000000" pitchFamily="2" charset="0"/>
              </a:rPr>
              <a:t> sensors (e.g., GPS, passenger counters) in public transportation vehicles.</a:t>
            </a:r>
          </a:p>
          <a:p>
            <a:r>
              <a:rPr lang="en-GB" b="0" i="0" dirty="0">
                <a:solidFill>
                  <a:srgbClr val="313131"/>
                </a:solidFill>
                <a:effectLst/>
                <a:latin typeface="Montserrat" panose="02000000000000000000" pitchFamily="2" charset="0"/>
              </a:rPr>
              <a:t>Real-Time Transit Information Platform: Design a web-based platform to display </a:t>
            </a:r>
            <a:r>
              <a:rPr lang="en-GB" b="0" i="0" dirty="0" err="1">
                <a:solidFill>
                  <a:srgbClr val="313131"/>
                </a:solidFill>
                <a:effectLst/>
                <a:latin typeface="Montserrat" panose="02000000000000000000" pitchFamily="2" charset="0"/>
              </a:rPr>
              <a:t>realtime</a:t>
            </a:r>
            <a:r>
              <a:rPr lang="en-GB" b="0" i="0" dirty="0">
                <a:solidFill>
                  <a:srgbClr val="313131"/>
                </a:solidFill>
                <a:effectLst/>
                <a:latin typeface="Montserrat" panose="02000000000000000000" pitchFamily="2" charset="0"/>
              </a:rPr>
              <a:t> transit information to passengers</a:t>
            </a:r>
          </a:p>
          <a:p>
            <a:r>
              <a:rPr lang="en-GB" b="0" i="0" dirty="0">
                <a:solidFill>
                  <a:srgbClr val="313131"/>
                </a:solidFill>
                <a:effectLst/>
                <a:latin typeface="Montserrat" panose="02000000000000000000" pitchFamily="2" charset="0"/>
              </a:rPr>
              <a:t>Integration Approach: Determine how </a:t>
            </a:r>
            <a:r>
              <a:rPr lang="en-GB" b="0" i="0" dirty="0" err="1">
                <a:solidFill>
                  <a:srgbClr val="313131"/>
                </a:solidFill>
                <a:effectLst/>
                <a:latin typeface="Montserrat" panose="02000000000000000000" pitchFamily="2" charset="0"/>
              </a:rPr>
              <a:t>IoT</a:t>
            </a:r>
            <a:r>
              <a:rPr lang="en-GB" b="0" i="0" dirty="0">
                <a:solidFill>
                  <a:srgbClr val="313131"/>
                </a:solidFill>
                <a:effectLst/>
                <a:latin typeface="Montserrat" panose="02000000000000000000" pitchFamily="2" charset="0"/>
              </a:rPr>
              <a:t> sensors will send data to the real-time transit information platform.</a:t>
            </a:r>
          </a:p>
          <a:p>
            <a:endParaRPr lang="en-US" dirty="0"/>
          </a:p>
        </p:txBody>
      </p:sp>
    </p:spTree>
    <p:extLst>
      <p:ext uri="{BB962C8B-B14F-4D97-AF65-F5344CB8AC3E}">
        <p14:creationId xmlns:p14="http://schemas.microsoft.com/office/powerpoint/2010/main" val="1295327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B57BC-4336-C5B0-F443-53225F3AC3F6}"/>
              </a:ext>
            </a:extLst>
          </p:cNvPr>
          <p:cNvSpPr>
            <a:spLocks noGrp="1"/>
          </p:cNvSpPr>
          <p:nvPr>
            <p:ph type="title"/>
          </p:nvPr>
        </p:nvSpPr>
        <p:spPr>
          <a:xfrm>
            <a:off x="1154954" y="565453"/>
            <a:ext cx="10163715" cy="1364287"/>
          </a:xfrm>
        </p:spPr>
        <p:txBody>
          <a:bodyPr/>
          <a:lstStyle/>
          <a:p>
            <a:r>
              <a:rPr lang="en-GB" b="0" i="0" dirty="0">
                <a:solidFill>
                  <a:schemeClr val="bg1"/>
                </a:solidFill>
                <a:effectLst/>
                <a:latin typeface="Montserrat" panose="02000000000000000000" pitchFamily="2" charset="0"/>
              </a:rPr>
              <a:t>machine learning algorithms to improve arrival time prediction accuracy based on historical data and traffic conditions.</a:t>
            </a:r>
            <a:endParaRPr lang="en-US" dirty="0">
              <a:solidFill>
                <a:schemeClr val="bg1"/>
              </a:solidFill>
            </a:endParaRPr>
          </a:p>
        </p:txBody>
      </p:sp>
      <p:sp>
        <p:nvSpPr>
          <p:cNvPr id="3" name="Content Placeholder 2">
            <a:extLst>
              <a:ext uri="{FF2B5EF4-FFF2-40B4-BE49-F238E27FC236}">
                <a16:creationId xmlns:a16="http://schemas.microsoft.com/office/drawing/2014/main" id="{AF17028E-862C-FBB8-43AE-0C6EEB202A83}"/>
              </a:ext>
            </a:extLst>
          </p:cNvPr>
          <p:cNvSpPr>
            <a:spLocks noGrp="1"/>
          </p:cNvSpPr>
          <p:nvPr>
            <p:ph idx="1"/>
          </p:nvPr>
        </p:nvSpPr>
        <p:spPr/>
        <p:txBody>
          <a:bodyPr>
            <a:normAutofit fontScale="92500" lnSpcReduction="20000"/>
          </a:bodyPr>
          <a:lstStyle/>
          <a:p>
            <a:r>
              <a:rPr lang="en-GB" b="0" i="0" dirty="0">
                <a:solidFill>
                  <a:srgbClr val="1F1F1F"/>
                </a:solidFill>
                <a:effectLst/>
                <a:latin typeface="ElsevierGulliver"/>
              </a:rPr>
              <a:t>Due to the advancement of technology machine learning concepts are used in traffic forecasting. This proposed model uses four types of machine learning concepts like DAN(Deep Autoencoder), DBN(Deep Belief Network), RF(Random Forest), and LSTM (Long Short Term Memory). </a:t>
            </a:r>
            <a:endParaRPr lang="en-US" b="0" i="0" dirty="0">
              <a:solidFill>
                <a:srgbClr val="1F1F1F"/>
              </a:solidFill>
              <a:effectLst/>
              <a:latin typeface="ElsevierGulliver"/>
            </a:endParaRPr>
          </a:p>
          <a:p>
            <a:r>
              <a:rPr lang="en-GB" b="1" i="1" dirty="0">
                <a:solidFill>
                  <a:schemeClr val="accent6">
                    <a:lumMod val="50000"/>
                  </a:schemeClr>
                </a:solidFill>
                <a:effectLst/>
                <a:latin typeface="ElsevierGulliver"/>
              </a:rPr>
              <a:t>Introduction</a:t>
            </a:r>
          </a:p>
          <a:p>
            <a:r>
              <a:rPr lang="en-GB" b="0" i="0" dirty="0">
                <a:solidFill>
                  <a:srgbClr val="1F1F1F"/>
                </a:solidFill>
                <a:effectLst/>
                <a:latin typeface="ElsevierGulliver"/>
              </a:rPr>
              <a:t>In transportation means, congestion is defined as the excess of vehicles on the roads within a particular time which results in the slower speeds of vehicles comparing with the normal situation. The word congestion refers to the meaning of stopped or stop-and-go traffic. Work zones are the construction which is made on the roadway side that makes physical changes for the particular environment. These work zones also include the less width or number if travel plans, absence of shoulders, diversions, and temporary roads. Then the weather is considered as the most important reason for traffic congestion. The weather conditions which affect the traffic are as follows, bright, sunlight, fog, wet, snowy, icy roadway after the precipitation state. </a:t>
            </a:r>
            <a:endParaRPr lang="en-US" dirty="0"/>
          </a:p>
        </p:txBody>
      </p:sp>
    </p:spTree>
    <p:extLst>
      <p:ext uri="{BB962C8B-B14F-4D97-AF65-F5344CB8AC3E}">
        <p14:creationId xmlns:p14="http://schemas.microsoft.com/office/powerpoint/2010/main" val="4162770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2DA24-2FE8-4E27-9FD7-98BF2E80876B}"/>
              </a:ext>
            </a:extLst>
          </p:cNvPr>
          <p:cNvSpPr>
            <a:spLocks noGrp="1"/>
          </p:cNvSpPr>
          <p:nvPr>
            <p:ph type="title"/>
          </p:nvPr>
        </p:nvSpPr>
        <p:spPr/>
        <p:txBody>
          <a:bodyPr/>
          <a:lstStyle/>
          <a:p>
            <a:r>
              <a:rPr lang="en-US" dirty="0"/>
              <a:t>Deep </a:t>
            </a:r>
            <a:r>
              <a:rPr lang="en-US" dirty="0" err="1"/>
              <a:t>Belife</a:t>
            </a:r>
            <a:r>
              <a:rPr lang="en-US" dirty="0"/>
              <a:t> Network (DBF)</a:t>
            </a:r>
          </a:p>
        </p:txBody>
      </p:sp>
      <p:sp>
        <p:nvSpPr>
          <p:cNvPr id="3" name="Content Placeholder 2">
            <a:extLst>
              <a:ext uri="{FF2B5EF4-FFF2-40B4-BE49-F238E27FC236}">
                <a16:creationId xmlns:a16="http://schemas.microsoft.com/office/drawing/2014/main" id="{D289B283-770A-F410-27B3-34670059C6AC}"/>
              </a:ext>
            </a:extLst>
          </p:cNvPr>
          <p:cNvSpPr>
            <a:spLocks noGrp="1"/>
          </p:cNvSpPr>
          <p:nvPr>
            <p:ph idx="1"/>
          </p:nvPr>
        </p:nvSpPr>
        <p:spPr/>
        <p:txBody>
          <a:bodyPr/>
          <a:lstStyle/>
          <a:p>
            <a:r>
              <a:rPr lang="en-GB" b="0" i="0" dirty="0">
                <a:solidFill>
                  <a:srgbClr val="1F1F1F"/>
                </a:solidFill>
                <a:effectLst/>
                <a:latin typeface="ElsevierGulliver"/>
              </a:rPr>
              <a:t>A deep </a:t>
            </a:r>
            <a:r>
              <a:rPr lang="en-GB" b="0" i="0" dirty="0" err="1">
                <a:solidFill>
                  <a:srgbClr val="1F1F1F"/>
                </a:solidFill>
                <a:effectLst/>
                <a:latin typeface="ElsevierGulliver"/>
              </a:rPr>
              <a:t>autoencoder</a:t>
            </a:r>
            <a:r>
              <a:rPr lang="en-GB" b="0" i="0" dirty="0">
                <a:solidFill>
                  <a:srgbClr val="1F1F1F"/>
                </a:solidFill>
                <a:effectLst/>
                <a:latin typeface="ElsevierGulliver"/>
              </a:rPr>
              <a:t> is an algorithm that is composed of symmetrical deep networks that have four or five shallow layers mentioning the encoding half of the net and the second set of five or four layers which makes the decoding half. </a:t>
            </a:r>
            <a:endParaRPr lang="en-US" b="0" i="0" dirty="0">
              <a:solidFill>
                <a:srgbClr val="1F1F1F"/>
              </a:solidFill>
              <a:effectLst/>
              <a:latin typeface="ElsevierGulliver"/>
            </a:endParaRPr>
          </a:p>
          <a:p>
            <a:r>
              <a:rPr lang="en-GB" b="0" i="0" dirty="0">
                <a:solidFill>
                  <a:srgbClr val="1F1F1F"/>
                </a:solidFill>
                <a:effectLst/>
                <a:latin typeface="ElsevierGulliver"/>
              </a:rPr>
              <a:t>Deep </a:t>
            </a:r>
            <a:r>
              <a:rPr lang="en-GB" b="0" i="0" dirty="0" err="1">
                <a:solidFill>
                  <a:srgbClr val="1F1F1F"/>
                </a:solidFill>
                <a:effectLst/>
                <a:latin typeface="ElsevierGulliver"/>
              </a:rPr>
              <a:t>autoencoders</a:t>
            </a:r>
            <a:r>
              <a:rPr lang="en-GB" b="0" i="0" dirty="0">
                <a:solidFill>
                  <a:srgbClr val="1F1F1F"/>
                </a:solidFill>
                <a:effectLst/>
                <a:latin typeface="ElsevierGulliver"/>
              </a:rPr>
              <a:t> have the ability for minimizing images into 30 number vectors. This </a:t>
            </a:r>
            <a:r>
              <a:rPr lang="en-GB" b="0" i="0" dirty="0" err="1">
                <a:solidFill>
                  <a:srgbClr val="1F1F1F"/>
                </a:solidFill>
                <a:effectLst/>
                <a:latin typeface="ElsevierGulliver"/>
              </a:rPr>
              <a:t>autoencoder</a:t>
            </a:r>
            <a:r>
              <a:rPr lang="en-GB" b="0" i="0" dirty="0">
                <a:solidFill>
                  <a:srgbClr val="1F1F1F"/>
                </a:solidFill>
                <a:effectLst/>
                <a:latin typeface="ElsevierGulliver"/>
              </a:rPr>
              <a:t> is a neural network model that seeks to study a compressed representation of the input. </a:t>
            </a:r>
            <a:endParaRPr lang="en-US" b="0" i="0" dirty="0">
              <a:solidFill>
                <a:srgbClr val="1F1F1F"/>
              </a:solidFill>
              <a:effectLst/>
              <a:latin typeface="ElsevierGulliver"/>
            </a:endParaRPr>
          </a:p>
          <a:p>
            <a:r>
              <a:rPr lang="en-GB" b="0" i="0" dirty="0">
                <a:solidFill>
                  <a:srgbClr val="1F1F1F"/>
                </a:solidFill>
                <a:effectLst/>
                <a:latin typeface="ElsevierGulliver"/>
              </a:rPr>
              <a:t>Autoencoder is the unsupervised method of learning. However technically, they are </a:t>
            </a:r>
            <a:endParaRPr lang="en-US" dirty="0"/>
          </a:p>
        </p:txBody>
      </p:sp>
    </p:spTree>
    <p:extLst>
      <p:ext uri="{BB962C8B-B14F-4D97-AF65-F5344CB8AC3E}">
        <p14:creationId xmlns:p14="http://schemas.microsoft.com/office/powerpoint/2010/main" val="3205276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C8085-4AFC-B9CD-7124-23D09548AAB0}"/>
              </a:ext>
            </a:extLst>
          </p:cNvPr>
          <p:cNvSpPr>
            <a:spLocks noGrp="1"/>
          </p:cNvSpPr>
          <p:nvPr>
            <p:ph type="title"/>
          </p:nvPr>
        </p:nvSpPr>
        <p:spPr/>
        <p:txBody>
          <a:bodyPr/>
          <a:lstStyle/>
          <a:p>
            <a:r>
              <a:rPr lang="en-US" dirty="0"/>
              <a:t>Random Forest(RF)</a:t>
            </a:r>
          </a:p>
        </p:txBody>
      </p:sp>
      <p:sp>
        <p:nvSpPr>
          <p:cNvPr id="3" name="Content Placeholder 2">
            <a:extLst>
              <a:ext uri="{FF2B5EF4-FFF2-40B4-BE49-F238E27FC236}">
                <a16:creationId xmlns:a16="http://schemas.microsoft.com/office/drawing/2014/main" id="{C4D2B3CD-DD98-F4CF-173A-A6C91B16B41D}"/>
              </a:ext>
            </a:extLst>
          </p:cNvPr>
          <p:cNvSpPr>
            <a:spLocks noGrp="1"/>
          </p:cNvSpPr>
          <p:nvPr>
            <p:ph idx="1"/>
          </p:nvPr>
        </p:nvSpPr>
        <p:spPr/>
        <p:txBody>
          <a:bodyPr/>
          <a:lstStyle/>
          <a:p>
            <a:r>
              <a:rPr lang="en-GB" b="0" i="0" dirty="0">
                <a:solidFill>
                  <a:srgbClr val="1F1F1F"/>
                </a:solidFill>
                <a:effectLst/>
                <a:latin typeface="ElsevierGulliver"/>
              </a:rPr>
              <a:t>RF is one of the easiest and flexible machine learning techniques to produces a better result.</a:t>
            </a:r>
            <a:endParaRPr lang="en-US" b="0" i="0" dirty="0">
              <a:solidFill>
                <a:srgbClr val="1F1F1F"/>
              </a:solidFill>
              <a:effectLst/>
              <a:latin typeface="ElsevierGulliver"/>
            </a:endParaRPr>
          </a:p>
          <a:p>
            <a:r>
              <a:rPr lang="en-GB" b="0" i="0" dirty="0">
                <a:solidFill>
                  <a:srgbClr val="1F1F1F"/>
                </a:solidFill>
                <a:effectLst/>
                <a:latin typeface="ElsevierGulliver"/>
              </a:rPr>
              <a:t> Due to the simplicity, it is used by many people. The following Fig. 2 shows the normal process flow of the DF technique (H. Jiang et al.,).</a:t>
            </a:r>
          </a:p>
          <a:p>
            <a:r>
              <a:rPr lang="en-GB" b="0" i="0" dirty="0">
                <a:solidFill>
                  <a:srgbClr val="1F1F1F"/>
                </a:solidFill>
                <a:effectLst/>
                <a:latin typeface="ElsevierGulliver"/>
              </a:rPr>
              <a:t>RF forest technique was initially introduced by Leo </a:t>
            </a:r>
            <a:r>
              <a:rPr lang="en-GB" b="0" i="0" dirty="0" err="1">
                <a:solidFill>
                  <a:srgbClr val="1F1F1F"/>
                </a:solidFill>
                <a:effectLst/>
                <a:latin typeface="ElsevierGulliver"/>
              </a:rPr>
              <a:t>Breiman</a:t>
            </a:r>
            <a:r>
              <a:rPr lang="en-GB" b="0" i="0" dirty="0">
                <a:solidFill>
                  <a:srgbClr val="1F1F1F"/>
                </a:solidFill>
                <a:effectLst/>
                <a:latin typeface="ElsevierGulliver"/>
              </a:rPr>
              <a:t>. </a:t>
            </a:r>
            <a:endParaRPr lang="en-US" b="0" i="0" dirty="0">
              <a:solidFill>
                <a:srgbClr val="1F1F1F"/>
              </a:solidFill>
              <a:effectLst/>
              <a:latin typeface="ElsevierGulliver"/>
            </a:endParaRPr>
          </a:p>
          <a:p>
            <a:r>
              <a:rPr lang="en-GB" b="0" i="0" dirty="0">
                <a:solidFill>
                  <a:srgbClr val="1F1F1F"/>
                </a:solidFill>
                <a:effectLst/>
                <a:latin typeface="ElsevierGulliver"/>
              </a:rPr>
              <a:t>This technique use number of training data to improve the variation among the classification system, thus increase the abstraction capability and forecasting capability of the technique. </a:t>
            </a:r>
          </a:p>
          <a:p>
            <a:endParaRPr lang="en-US" dirty="0"/>
          </a:p>
        </p:txBody>
      </p:sp>
    </p:spTree>
    <p:extLst>
      <p:ext uri="{BB962C8B-B14F-4D97-AF65-F5344CB8AC3E}">
        <p14:creationId xmlns:p14="http://schemas.microsoft.com/office/powerpoint/2010/main" val="3877637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AA157-0F26-B1EB-1B4B-A4E5F46681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6C3088-0C7D-2376-F1F5-740574579BDB}"/>
              </a:ext>
            </a:extLst>
          </p:cNvPr>
          <p:cNvSpPr>
            <a:spLocks noGrp="1"/>
          </p:cNvSpPr>
          <p:nvPr>
            <p:ph idx="1"/>
          </p:nvPr>
        </p:nvSpPr>
        <p:spPr/>
        <p:txBody>
          <a:bodyPr/>
          <a:lstStyle/>
          <a:p>
            <a:r>
              <a:rPr lang="en-GB" dirty="0">
                <a:effectLst/>
              </a:rPr>
              <a:t>The </a:t>
            </a:r>
            <a:r>
              <a:rPr lang="en-GB" dirty="0" err="1">
                <a:effectLst/>
              </a:rPr>
              <a:t>performace</a:t>
            </a:r>
            <a:r>
              <a:rPr lang="en-GB" dirty="0">
                <a:effectLst/>
              </a:rPr>
              <a:t> of the proposed system is </a:t>
            </a:r>
            <a:r>
              <a:rPr lang="en-GB" dirty="0" err="1">
                <a:effectLst/>
              </a:rPr>
              <a:t>assesed</a:t>
            </a:r>
            <a:r>
              <a:rPr lang="en-GB" dirty="0">
                <a:effectLst/>
              </a:rPr>
              <a:t> by using accuracy, MSE(Mean Squared Error), RMSE(Root Mean Square Error), precision and recall. The </a:t>
            </a:r>
            <a:r>
              <a:rPr lang="en-GB" dirty="0" err="1">
                <a:effectLst/>
              </a:rPr>
              <a:t>Eqs</a:t>
            </a:r>
            <a:r>
              <a:rPr lang="en-GB" dirty="0">
                <a:effectLst/>
              </a:rPr>
              <a:t>. (13), (14), (15), (16), (17) are used to calculate the metrics value of </a:t>
            </a:r>
            <a:r>
              <a:rPr lang="en-US" dirty="0">
                <a:effectLst/>
              </a:rPr>
              <a:t>proposed system.</a:t>
            </a:r>
          </a:p>
          <a:p>
            <a:pPr marL="0" indent="0">
              <a:buNone/>
            </a:pPr>
            <a:br>
              <a:rPr lang="en-GB" dirty="0"/>
            </a:br>
            <a:endParaRPr lang="en-US" dirty="0"/>
          </a:p>
        </p:txBody>
      </p:sp>
      <p:pic>
        <p:nvPicPr>
          <p:cNvPr id="4" name="Picture 3">
            <a:extLst>
              <a:ext uri="{FF2B5EF4-FFF2-40B4-BE49-F238E27FC236}">
                <a16:creationId xmlns:a16="http://schemas.microsoft.com/office/drawing/2014/main" id="{67924264-9D40-5C82-659F-A298A69DD216}"/>
              </a:ext>
            </a:extLst>
          </p:cNvPr>
          <p:cNvPicPr>
            <a:picLocks noChangeAspect="1"/>
          </p:cNvPicPr>
          <p:nvPr/>
        </p:nvPicPr>
        <p:blipFill>
          <a:blip r:embed="rId2"/>
          <a:stretch>
            <a:fillRect/>
          </a:stretch>
        </p:blipFill>
        <p:spPr>
          <a:xfrm>
            <a:off x="12765973" y="-4869352"/>
            <a:ext cx="1616285" cy="5418667"/>
          </a:xfrm>
          <a:prstGeom prst="rect">
            <a:avLst/>
          </a:prstGeom>
        </p:spPr>
      </p:pic>
    </p:spTree>
    <p:extLst>
      <p:ext uri="{BB962C8B-B14F-4D97-AF65-F5344CB8AC3E}">
        <p14:creationId xmlns:p14="http://schemas.microsoft.com/office/powerpoint/2010/main" val="1538767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BF68C-7567-5193-DADE-FEAE3F7C9CD7}"/>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BE309B27-D1CF-28E4-AAB1-B6F1F0B3CC62}"/>
              </a:ext>
            </a:extLst>
          </p:cNvPr>
          <p:cNvPicPr>
            <a:picLocks noGrp="1" noChangeAspect="1"/>
          </p:cNvPicPr>
          <p:nvPr>
            <p:ph idx="1"/>
          </p:nvPr>
        </p:nvPicPr>
        <p:blipFill>
          <a:blip r:embed="rId2"/>
          <a:stretch>
            <a:fillRect/>
          </a:stretch>
        </p:blipFill>
        <p:spPr>
          <a:xfrm>
            <a:off x="2003961" y="2170958"/>
            <a:ext cx="7533409" cy="4420584"/>
          </a:xfrm>
        </p:spPr>
      </p:pic>
    </p:spTree>
    <p:extLst>
      <p:ext uri="{BB962C8B-B14F-4D97-AF65-F5344CB8AC3E}">
        <p14:creationId xmlns:p14="http://schemas.microsoft.com/office/powerpoint/2010/main" val="3995567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D9D34-C82F-E0E7-1516-A7312B630EB8}"/>
              </a:ext>
            </a:extLst>
          </p:cNvPr>
          <p:cNvSpPr>
            <a:spLocks noGrp="1"/>
          </p:cNvSpPr>
          <p:nvPr>
            <p:ph type="title"/>
          </p:nvPr>
        </p:nvSpPr>
        <p:spPr/>
        <p:txBody>
          <a:bodyPr/>
          <a:lstStyle/>
          <a:p>
            <a:r>
              <a:rPr lang="en-US" dirty="0"/>
              <a:t>Conclusion </a:t>
            </a:r>
          </a:p>
        </p:txBody>
      </p:sp>
      <p:sp>
        <p:nvSpPr>
          <p:cNvPr id="3" name="Content Placeholder 2">
            <a:extLst>
              <a:ext uri="{FF2B5EF4-FFF2-40B4-BE49-F238E27FC236}">
                <a16:creationId xmlns:a16="http://schemas.microsoft.com/office/drawing/2014/main" id="{704625C2-2A07-E754-347F-D892EB0C4C93}"/>
              </a:ext>
            </a:extLst>
          </p:cNvPr>
          <p:cNvSpPr>
            <a:spLocks noGrp="1"/>
          </p:cNvSpPr>
          <p:nvPr>
            <p:ph idx="1"/>
          </p:nvPr>
        </p:nvSpPr>
        <p:spPr>
          <a:xfrm>
            <a:off x="723652" y="2754279"/>
            <a:ext cx="6000523" cy="2645284"/>
          </a:xfrm>
        </p:spPr>
        <p:txBody>
          <a:bodyPr>
            <a:normAutofit fontScale="92500" lnSpcReduction="20000"/>
          </a:bodyPr>
          <a:lstStyle/>
          <a:p>
            <a:r>
              <a:rPr lang="en-GB" b="0" i="0" dirty="0">
                <a:solidFill>
                  <a:srgbClr val="1F1F1F"/>
                </a:solidFill>
                <a:effectLst/>
                <a:latin typeface="ElsevierGulliver"/>
              </a:rPr>
              <a:t>The efficiency of the traffic prediction system is measured by the accuracy of the prediction result.</a:t>
            </a:r>
            <a:endParaRPr lang="en-US" b="0" i="0" dirty="0">
              <a:solidFill>
                <a:srgbClr val="1F1F1F"/>
              </a:solidFill>
              <a:effectLst/>
              <a:latin typeface="ElsevierGulliver"/>
            </a:endParaRPr>
          </a:p>
          <a:p>
            <a:r>
              <a:rPr lang="en-GB" b="0" i="0" dirty="0">
                <a:solidFill>
                  <a:srgbClr val="1F1F1F"/>
                </a:solidFill>
                <a:effectLst/>
                <a:latin typeface="ElsevierGulliver"/>
              </a:rPr>
              <a:t> The main intention of this current research work is to develop a traffic prediction system using machine learning techniques. </a:t>
            </a:r>
            <a:endParaRPr lang="en-US" b="0" i="0" dirty="0">
              <a:solidFill>
                <a:srgbClr val="1F1F1F"/>
              </a:solidFill>
              <a:effectLst/>
              <a:latin typeface="ElsevierGulliver"/>
            </a:endParaRPr>
          </a:p>
          <a:p>
            <a:r>
              <a:rPr lang="en-GB" b="0" i="0" dirty="0">
                <a:solidFill>
                  <a:srgbClr val="1F1F1F"/>
                </a:solidFill>
                <a:effectLst/>
                <a:latin typeface="ElsevierGulliver"/>
              </a:rPr>
              <a:t>Here the system developed by using DAN, DBN, RF, and LSTM techniques. F</a:t>
            </a:r>
            <a:endParaRPr lang="en-US" b="0" i="0" dirty="0">
              <a:solidFill>
                <a:srgbClr val="1F1F1F"/>
              </a:solidFill>
              <a:effectLst/>
              <a:latin typeface="ElsevierGulliver"/>
            </a:endParaRPr>
          </a:p>
          <a:p>
            <a:r>
              <a:rPr lang="en-GB" b="0" i="0" dirty="0" err="1">
                <a:solidFill>
                  <a:srgbClr val="1F1F1F"/>
                </a:solidFill>
                <a:effectLst/>
                <a:latin typeface="ElsevierGulliver"/>
              </a:rPr>
              <a:t>inally</a:t>
            </a:r>
            <a:r>
              <a:rPr lang="en-GB" b="0" i="0" dirty="0">
                <a:solidFill>
                  <a:srgbClr val="1F1F1F"/>
                </a:solidFill>
                <a:effectLst/>
                <a:latin typeface="ElsevierGulliver"/>
              </a:rPr>
              <a:t>, the performance of the system can be evaluated in terms of accuracy, precision, recall, RMSE, and MSE metrics. Among the four techniques, LSTM yields a better accuracy level. This system is</a:t>
            </a:r>
            <a:endParaRPr lang="en-US" dirty="0"/>
          </a:p>
        </p:txBody>
      </p:sp>
    </p:spTree>
    <p:extLst>
      <p:ext uri="{BB962C8B-B14F-4D97-AF65-F5344CB8AC3E}">
        <p14:creationId xmlns:p14="http://schemas.microsoft.com/office/powerpoint/2010/main" val="3591433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2EDE9-09E1-9E2D-B95E-224EE909A232}"/>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B816EFEF-D10E-43B9-9868-A441013F9087}"/>
              </a:ext>
            </a:extLst>
          </p:cNvPr>
          <p:cNvSpPr>
            <a:spLocks noGrp="1"/>
          </p:cNvSpPr>
          <p:nvPr>
            <p:ph idx="1"/>
          </p:nvPr>
        </p:nvSpPr>
        <p:spPr/>
        <p:txBody>
          <a:bodyPr/>
          <a:lstStyle/>
          <a:p>
            <a:r>
              <a:rPr lang="en-GB" b="0" i="0" dirty="0" err="1">
                <a:effectLst/>
                <a:latin typeface="-apple-system"/>
              </a:rPr>
              <a:t>IoT</a:t>
            </a:r>
            <a:r>
              <a:rPr lang="en-GB" b="0" i="0" dirty="0">
                <a:effectLst/>
                <a:latin typeface="-apple-system"/>
              </a:rPr>
              <a:t> can offer many advantages for logistics and transportation in the supply chain, such as visibility of real-time tracking, plus monitoring of the condition and status of shipments, vehicles, and other assets. This can help avoid delays, losses, damages, and thefts. Additionally, </a:t>
            </a:r>
            <a:r>
              <a:rPr lang="en-GB" b="0" i="0" dirty="0" err="1">
                <a:effectLst/>
                <a:latin typeface="-apple-system"/>
              </a:rPr>
              <a:t>IoT</a:t>
            </a:r>
            <a:r>
              <a:rPr lang="en-GB" b="0" i="0" dirty="0">
                <a:effectLst/>
                <a:latin typeface="-apple-system"/>
              </a:rPr>
              <a:t> can enable smart routing, scheduling, and dispatching for vehicles and drivers based on traffic, weather, and demand patterns. This can optimize fuel consumption, reduce idle time, and increase productivity and utilization. </a:t>
            </a:r>
            <a:r>
              <a:rPr lang="en-GB" b="0" i="0" dirty="0" err="1">
                <a:effectLst/>
                <a:latin typeface="-apple-system"/>
              </a:rPr>
              <a:t>IoT</a:t>
            </a:r>
            <a:r>
              <a:rPr lang="en-GB" b="0" i="0" dirty="0">
                <a:effectLst/>
                <a:latin typeface="-apple-system"/>
              </a:rPr>
              <a:t> can also ensure product quality and safety by measuring and controlling a shipment's temperature, humidity, pressure, and vibration. This can help comply with regulations, reduce waste, and improve customer satisfaction. And </a:t>
            </a:r>
            <a:r>
              <a:rPr lang="en-GB" b="0" i="0" dirty="0" err="1">
                <a:effectLst/>
                <a:latin typeface="-apple-system"/>
              </a:rPr>
              <a:t>IoT</a:t>
            </a:r>
            <a:r>
              <a:rPr lang="en-GB" b="0" i="0" dirty="0">
                <a:effectLst/>
                <a:latin typeface="-apple-system"/>
              </a:rPr>
              <a:t> can reduce environmental impact by lowering carbon emissions, fuel consumption, and noise pollution. This can help meet corporate social responsibility goals while enhancing reputation and saving costs.</a:t>
            </a:r>
            <a:endParaRPr lang="en-US" dirty="0"/>
          </a:p>
        </p:txBody>
      </p:sp>
    </p:spTree>
    <p:extLst>
      <p:ext uri="{BB962C8B-B14F-4D97-AF65-F5344CB8AC3E}">
        <p14:creationId xmlns:p14="http://schemas.microsoft.com/office/powerpoint/2010/main" val="1278096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E57FE-BE4F-FF99-D6C8-4299EF2F67A3}"/>
              </a:ext>
            </a:extLst>
          </p:cNvPr>
          <p:cNvSpPr>
            <a:spLocks noGrp="1"/>
          </p:cNvSpPr>
          <p:nvPr>
            <p:ph type="title"/>
          </p:nvPr>
        </p:nvSpPr>
        <p:spPr/>
        <p:txBody>
          <a:bodyPr/>
          <a:lstStyle/>
          <a:p>
            <a:r>
              <a:rPr lang="en-GB" b="1" i="0" dirty="0">
                <a:effectLst/>
                <a:latin typeface="-apple-system"/>
              </a:rPr>
              <a:t>Benefits of </a:t>
            </a:r>
            <a:r>
              <a:rPr lang="en-GB" b="1" i="0" dirty="0" err="1">
                <a:effectLst/>
                <a:latin typeface="-apple-system"/>
              </a:rPr>
              <a:t>IoT</a:t>
            </a:r>
            <a:r>
              <a:rPr lang="en-GB" b="1" i="0" dirty="0">
                <a:effectLst/>
                <a:latin typeface="-apple-system"/>
              </a:rPr>
              <a:t> for logistics and transportation</a:t>
            </a:r>
            <a:br>
              <a:rPr lang="en-GB" b="1" i="0" dirty="0">
                <a:effectLst/>
                <a:latin typeface="-apple-system"/>
              </a:rPr>
            </a:br>
            <a:endParaRPr lang="en-US" dirty="0"/>
          </a:p>
        </p:txBody>
      </p:sp>
      <p:sp>
        <p:nvSpPr>
          <p:cNvPr id="3" name="Content Placeholder 2">
            <a:extLst>
              <a:ext uri="{FF2B5EF4-FFF2-40B4-BE49-F238E27FC236}">
                <a16:creationId xmlns:a16="http://schemas.microsoft.com/office/drawing/2014/main" id="{A3883521-2320-B2FB-5282-BF63FACD8A28}"/>
              </a:ext>
            </a:extLst>
          </p:cNvPr>
          <p:cNvSpPr>
            <a:spLocks noGrp="1"/>
          </p:cNvSpPr>
          <p:nvPr>
            <p:ph idx="1"/>
          </p:nvPr>
        </p:nvSpPr>
        <p:spPr/>
        <p:txBody>
          <a:bodyPr/>
          <a:lstStyle/>
          <a:p>
            <a:r>
              <a:rPr lang="en-GB" b="0" i="0" dirty="0" err="1">
                <a:effectLst/>
                <a:latin typeface="-apple-system"/>
              </a:rPr>
              <a:t>IoT</a:t>
            </a:r>
            <a:r>
              <a:rPr lang="en-GB" b="0" i="0" dirty="0">
                <a:effectLst/>
                <a:latin typeface="-apple-system"/>
              </a:rPr>
              <a:t> can present certain challenges in the supply chain, such as security, integration, and regulation. You must implement security measures like encryption, authentication, and firewalls to protect </a:t>
            </a:r>
            <a:r>
              <a:rPr lang="en-GB" b="0" i="0" dirty="0" err="1">
                <a:effectLst/>
                <a:latin typeface="-apple-system"/>
              </a:rPr>
              <a:t>IoT</a:t>
            </a:r>
            <a:r>
              <a:rPr lang="en-GB" b="0" i="0" dirty="0">
                <a:effectLst/>
                <a:latin typeface="-apple-system"/>
              </a:rPr>
              <a:t> networks and data. Also, it is important to guarantee </a:t>
            </a:r>
            <a:r>
              <a:rPr lang="en-GB" b="0" i="0" dirty="0" err="1">
                <a:effectLst/>
                <a:latin typeface="-apple-system"/>
              </a:rPr>
              <a:t>IoT</a:t>
            </a:r>
            <a:r>
              <a:rPr lang="en-GB" b="0" i="0" dirty="0">
                <a:effectLst/>
                <a:latin typeface="-apple-system"/>
              </a:rPr>
              <a:t> solution compatibility, interoperability, and scalability to avoid vendor lock-in and </a:t>
            </a:r>
            <a:r>
              <a:rPr lang="en-GB" b="0" i="0" dirty="0" err="1">
                <a:effectLst/>
                <a:latin typeface="-apple-system"/>
              </a:rPr>
              <a:t>siloed</a:t>
            </a:r>
            <a:r>
              <a:rPr lang="en-GB" b="0" i="0" dirty="0">
                <a:effectLst/>
                <a:latin typeface="-apple-system"/>
              </a:rPr>
              <a:t> data. And take account of legal and ethical issues when collecting, processing, or sharing large amounts of data. It is important to comply with relevant laws and regulations, such as GDPR, and respect the rights and preferences of customers, partners, and stakeholders.</a:t>
            </a:r>
            <a:endParaRPr lang="en-US" dirty="0"/>
          </a:p>
        </p:txBody>
      </p:sp>
    </p:spTree>
    <p:extLst>
      <p:ext uri="{BB962C8B-B14F-4D97-AF65-F5344CB8AC3E}">
        <p14:creationId xmlns:p14="http://schemas.microsoft.com/office/powerpoint/2010/main" val="863185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707CE-EB77-68AD-0650-A14EB97F0B32}"/>
              </a:ext>
            </a:extLst>
          </p:cNvPr>
          <p:cNvSpPr>
            <a:spLocks noGrp="1"/>
          </p:cNvSpPr>
          <p:nvPr>
            <p:ph type="title"/>
          </p:nvPr>
        </p:nvSpPr>
        <p:spPr/>
        <p:txBody>
          <a:bodyPr/>
          <a:lstStyle/>
          <a:p>
            <a:r>
              <a:rPr lang="en-GB" b="1" i="0" dirty="0">
                <a:effectLst/>
                <a:latin typeface="-apple-system"/>
              </a:rPr>
              <a:t>Challenges of </a:t>
            </a:r>
            <a:r>
              <a:rPr lang="en-GB" b="1" i="0" dirty="0" err="1">
                <a:effectLst/>
                <a:latin typeface="-apple-system"/>
              </a:rPr>
              <a:t>IoT</a:t>
            </a:r>
            <a:r>
              <a:rPr lang="en-GB" b="1" i="0" dirty="0">
                <a:effectLst/>
                <a:latin typeface="-apple-system"/>
              </a:rPr>
              <a:t> for logistics and transportation</a:t>
            </a:r>
            <a:br>
              <a:rPr lang="en-GB" b="1" i="0" dirty="0">
                <a:effectLst/>
                <a:latin typeface="-apple-system"/>
              </a:rPr>
            </a:br>
            <a:endParaRPr lang="en-US" dirty="0"/>
          </a:p>
        </p:txBody>
      </p:sp>
      <p:sp>
        <p:nvSpPr>
          <p:cNvPr id="3" name="Content Placeholder 2">
            <a:extLst>
              <a:ext uri="{FF2B5EF4-FFF2-40B4-BE49-F238E27FC236}">
                <a16:creationId xmlns:a16="http://schemas.microsoft.com/office/drawing/2014/main" id="{B9DA7200-B35E-27BA-101B-A8BCC03A0876}"/>
              </a:ext>
            </a:extLst>
          </p:cNvPr>
          <p:cNvSpPr>
            <a:spLocks noGrp="1"/>
          </p:cNvSpPr>
          <p:nvPr>
            <p:ph idx="1"/>
          </p:nvPr>
        </p:nvSpPr>
        <p:spPr/>
        <p:txBody>
          <a:bodyPr/>
          <a:lstStyle/>
          <a:p>
            <a:r>
              <a:rPr lang="en-GB" b="0" i="0" dirty="0">
                <a:effectLst/>
                <a:latin typeface="-apple-system"/>
              </a:rPr>
              <a:t>To leverage the benefits and overcome the challenges of </a:t>
            </a:r>
            <a:r>
              <a:rPr lang="en-GB" b="0" i="0" dirty="0" err="1">
                <a:effectLst/>
                <a:latin typeface="-apple-system"/>
              </a:rPr>
              <a:t>IoT</a:t>
            </a:r>
            <a:r>
              <a:rPr lang="en-GB" b="0" i="0" dirty="0">
                <a:effectLst/>
                <a:latin typeface="-apple-system"/>
              </a:rPr>
              <a:t>, adhere to certain best practices. Start by defining your goals and metrics so you can align your </a:t>
            </a:r>
            <a:r>
              <a:rPr lang="en-GB" b="0" i="0" dirty="0" err="1">
                <a:effectLst/>
                <a:latin typeface="-apple-system"/>
              </a:rPr>
              <a:t>IoT</a:t>
            </a:r>
            <a:r>
              <a:rPr lang="en-GB" b="0" i="0" dirty="0">
                <a:effectLst/>
                <a:latin typeface="-apple-system"/>
              </a:rPr>
              <a:t> strategy with your business strategy and measure the ROI. Then, select the most suitable </a:t>
            </a:r>
            <a:r>
              <a:rPr lang="en-GB" b="0" i="0" dirty="0" err="1">
                <a:effectLst/>
                <a:latin typeface="-apple-system"/>
              </a:rPr>
              <a:t>IoT</a:t>
            </a:r>
            <a:r>
              <a:rPr lang="en-GB" b="0" i="0" dirty="0">
                <a:effectLst/>
                <a:latin typeface="-apple-system"/>
              </a:rPr>
              <a:t> devices, sensors, platforms, and applications for your needs, taking into consideration their reliability, cost, and maintenance. Test your solutions before deploying them widely to evaluate their functionality, usability, and security. Also educate your staff on how to use and benefit from your </a:t>
            </a:r>
            <a:r>
              <a:rPr lang="en-GB" b="0" i="0" dirty="0" err="1">
                <a:effectLst/>
                <a:latin typeface="-apple-system"/>
              </a:rPr>
              <a:t>IoT</a:t>
            </a:r>
            <a:r>
              <a:rPr lang="en-GB" b="0" i="0" dirty="0">
                <a:effectLst/>
                <a:latin typeface="-apple-system"/>
              </a:rPr>
              <a:t> solutions. Provide them with the necessary skills and tools to address any concerns. Finally, foster a culture of innovation and collaboration so staff can share their feedback.</a:t>
            </a:r>
            <a:endParaRPr lang="en-US" dirty="0"/>
          </a:p>
        </p:txBody>
      </p:sp>
    </p:spTree>
    <p:extLst>
      <p:ext uri="{BB962C8B-B14F-4D97-AF65-F5344CB8AC3E}">
        <p14:creationId xmlns:p14="http://schemas.microsoft.com/office/powerpoint/2010/main" val="1503459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D108-0C34-4B49-371F-1AD6493F3664}"/>
              </a:ext>
            </a:extLst>
          </p:cNvPr>
          <p:cNvSpPr>
            <a:spLocks noGrp="1"/>
          </p:cNvSpPr>
          <p:nvPr>
            <p:ph type="title"/>
          </p:nvPr>
        </p:nvSpPr>
        <p:spPr/>
        <p:txBody>
          <a:bodyPr/>
          <a:lstStyle/>
          <a:p>
            <a:r>
              <a:rPr lang="en-GB" b="1" i="0" dirty="0">
                <a:effectLst/>
                <a:latin typeface="-apple-system"/>
              </a:rPr>
              <a:t>Best practices for </a:t>
            </a:r>
            <a:r>
              <a:rPr lang="en-GB" b="1" i="0" dirty="0" err="1">
                <a:effectLst/>
                <a:latin typeface="-apple-system"/>
              </a:rPr>
              <a:t>IoT</a:t>
            </a:r>
            <a:r>
              <a:rPr lang="en-GB" b="1" i="0" dirty="0">
                <a:effectLst/>
                <a:latin typeface="-apple-system"/>
              </a:rPr>
              <a:t> for logistics and transportation</a:t>
            </a:r>
            <a:br>
              <a:rPr lang="en-GB" b="1" i="0" dirty="0">
                <a:effectLst/>
                <a:latin typeface="-apple-system"/>
              </a:rPr>
            </a:br>
            <a:endParaRPr lang="en-US" dirty="0"/>
          </a:p>
        </p:txBody>
      </p:sp>
      <p:sp>
        <p:nvSpPr>
          <p:cNvPr id="3" name="Content Placeholder 2">
            <a:extLst>
              <a:ext uri="{FF2B5EF4-FFF2-40B4-BE49-F238E27FC236}">
                <a16:creationId xmlns:a16="http://schemas.microsoft.com/office/drawing/2014/main" id="{8CAFB349-6F1E-8DFF-0169-203A979853C5}"/>
              </a:ext>
            </a:extLst>
          </p:cNvPr>
          <p:cNvSpPr>
            <a:spLocks noGrp="1"/>
          </p:cNvSpPr>
          <p:nvPr>
            <p:ph idx="1"/>
          </p:nvPr>
        </p:nvSpPr>
        <p:spPr/>
        <p:txBody>
          <a:bodyPr/>
          <a:lstStyle/>
          <a:p>
            <a:r>
              <a:rPr lang="en-GB" b="0" i="0" dirty="0">
                <a:effectLst/>
                <a:latin typeface="-apple-system"/>
              </a:rPr>
              <a:t>To leverage the benefits and overcome the challenges of </a:t>
            </a:r>
            <a:r>
              <a:rPr lang="en-GB" b="0" i="0" dirty="0" err="1">
                <a:effectLst/>
                <a:latin typeface="-apple-system"/>
              </a:rPr>
              <a:t>IoT</a:t>
            </a:r>
            <a:r>
              <a:rPr lang="en-GB" b="0" i="0" dirty="0">
                <a:effectLst/>
                <a:latin typeface="-apple-system"/>
              </a:rPr>
              <a:t>, adhere to certain best practices. Start by defining your goals and metrics so you can align your </a:t>
            </a:r>
            <a:r>
              <a:rPr lang="en-GB" b="0" i="0" dirty="0" err="1">
                <a:effectLst/>
                <a:latin typeface="-apple-system"/>
              </a:rPr>
              <a:t>IoT</a:t>
            </a:r>
            <a:r>
              <a:rPr lang="en-GB" b="0" i="0" dirty="0">
                <a:effectLst/>
                <a:latin typeface="-apple-system"/>
              </a:rPr>
              <a:t> strategy with your business strategy and measure the ROI. Then, select the most suitable </a:t>
            </a:r>
            <a:r>
              <a:rPr lang="en-GB" b="0" i="0" dirty="0" err="1">
                <a:effectLst/>
                <a:latin typeface="-apple-system"/>
              </a:rPr>
              <a:t>IoT</a:t>
            </a:r>
            <a:r>
              <a:rPr lang="en-GB" b="0" i="0" dirty="0">
                <a:effectLst/>
                <a:latin typeface="-apple-system"/>
              </a:rPr>
              <a:t> devices, sensors, platforms, and applications for your needs, taking into consideration their reliability, cost, and maintenance. Test your solutions before deploying them widely to evaluate their functionality, usability, and security. Also educate your staff on how to use and benefit from your </a:t>
            </a:r>
            <a:r>
              <a:rPr lang="en-GB" b="0" i="0" dirty="0" err="1">
                <a:effectLst/>
                <a:latin typeface="-apple-system"/>
              </a:rPr>
              <a:t>IoT</a:t>
            </a:r>
            <a:r>
              <a:rPr lang="en-GB" b="0" i="0" dirty="0">
                <a:effectLst/>
                <a:latin typeface="-apple-system"/>
              </a:rPr>
              <a:t> solutions. Provide them with the necessary skills and tools to address any concerns. Finally, foster a culture of innovation and collaboration so staff can share their feedback.</a:t>
            </a:r>
            <a:endParaRPr lang="en-US" dirty="0"/>
          </a:p>
        </p:txBody>
      </p:sp>
    </p:spTree>
    <p:extLst>
      <p:ext uri="{BB962C8B-B14F-4D97-AF65-F5344CB8AC3E}">
        <p14:creationId xmlns:p14="http://schemas.microsoft.com/office/powerpoint/2010/main" val="278228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470A3-D71C-AF9F-94E6-CC344FB5CDA8}"/>
              </a:ext>
            </a:extLst>
          </p:cNvPr>
          <p:cNvSpPr>
            <a:spLocks noGrp="1"/>
          </p:cNvSpPr>
          <p:nvPr>
            <p:ph type="title"/>
          </p:nvPr>
        </p:nvSpPr>
        <p:spPr/>
        <p:txBody>
          <a:bodyPr/>
          <a:lstStyle/>
          <a:p>
            <a:r>
              <a:rPr lang="en-US" dirty="0"/>
              <a:t>Examples </a:t>
            </a:r>
          </a:p>
        </p:txBody>
      </p:sp>
      <p:sp>
        <p:nvSpPr>
          <p:cNvPr id="3" name="Content Placeholder 2">
            <a:extLst>
              <a:ext uri="{FF2B5EF4-FFF2-40B4-BE49-F238E27FC236}">
                <a16:creationId xmlns:a16="http://schemas.microsoft.com/office/drawing/2014/main" id="{7AFA08CB-45DA-0ABE-82C2-F9FB87BA48FD}"/>
              </a:ext>
            </a:extLst>
          </p:cNvPr>
          <p:cNvSpPr>
            <a:spLocks noGrp="1"/>
          </p:cNvSpPr>
          <p:nvPr>
            <p:ph idx="1"/>
          </p:nvPr>
        </p:nvSpPr>
        <p:spPr/>
        <p:txBody>
          <a:bodyPr>
            <a:normAutofit lnSpcReduction="10000"/>
          </a:bodyPr>
          <a:lstStyle/>
          <a:p>
            <a:r>
              <a:rPr lang="en-GB" b="0" i="0" dirty="0" err="1">
                <a:effectLst/>
                <a:latin typeface="-apple-system"/>
              </a:rPr>
              <a:t>IoT</a:t>
            </a:r>
            <a:r>
              <a:rPr lang="en-GB" b="0" i="0" dirty="0">
                <a:effectLst/>
                <a:latin typeface="-apple-system"/>
              </a:rPr>
              <a:t> has many ways to optimize logistics and transportation. For instance, you can equip smart containers with sensors that monitor the location, condition, and status of goods. This data is sent to a cloud-based platform which provides real-time visibility and alerts to shippers, carriers, and customers. Additionally, smart containers enable smart locking and unlocking, and automate the documentation and customs clearance processes. Smart fleet management is another example. </a:t>
            </a:r>
            <a:r>
              <a:rPr lang="en-GB" b="0" i="0" dirty="0" err="1">
                <a:effectLst/>
                <a:latin typeface="-apple-system"/>
              </a:rPr>
              <a:t>IoT</a:t>
            </a:r>
            <a:r>
              <a:rPr lang="en-GB" b="0" i="0" dirty="0">
                <a:effectLst/>
                <a:latin typeface="-apple-system"/>
              </a:rPr>
              <a:t> devices and platforms can manage vehicles and drivers in a fleet by collecting data on vehicle speed, location, fuel level, mileage, maintenance, and driving </a:t>
            </a:r>
            <a:r>
              <a:rPr lang="en-GB" b="0" i="0" dirty="0" err="1">
                <a:effectLst/>
                <a:latin typeface="-apple-system"/>
              </a:rPr>
              <a:t>behavior</a:t>
            </a:r>
            <a:r>
              <a:rPr lang="en-GB" b="0" i="0" dirty="0">
                <a:effectLst/>
                <a:latin typeface="-apple-system"/>
              </a:rPr>
              <a:t>. Smart routing, scheduling, and dispatching of the vehicles and drivers are also possible based on traffic, weather, and demand patterns. Lastly, smart warehouses use </a:t>
            </a:r>
            <a:r>
              <a:rPr lang="en-GB" b="0" i="0" dirty="0" err="1">
                <a:effectLst/>
                <a:latin typeface="-apple-system"/>
              </a:rPr>
              <a:t>IoT</a:t>
            </a:r>
            <a:r>
              <a:rPr lang="en-GB" b="0" i="0" dirty="0">
                <a:effectLst/>
                <a:latin typeface="-apple-system"/>
              </a:rPr>
              <a:t> devices to automate and optimize the storage, handling, and distribution of goods. RFID tags, barcode scanners, drones, robots, and smart shelves are able to track inventory while smart lighting systems help reduce energy costs.</a:t>
            </a:r>
            <a:endParaRPr lang="en-US" dirty="0"/>
          </a:p>
        </p:txBody>
      </p:sp>
    </p:spTree>
    <p:extLst>
      <p:ext uri="{BB962C8B-B14F-4D97-AF65-F5344CB8AC3E}">
        <p14:creationId xmlns:p14="http://schemas.microsoft.com/office/powerpoint/2010/main" val="294692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E90C-E74E-5DED-F973-A21A5DFBD999}"/>
              </a:ext>
            </a:extLst>
          </p:cNvPr>
          <p:cNvSpPr>
            <a:spLocks noGrp="1"/>
          </p:cNvSpPr>
          <p:nvPr>
            <p:ph type="title"/>
          </p:nvPr>
        </p:nvSpPr>
        <p:spPr/>
        <p:txBody>
          <a:bodyPr/>
          <a:lstStyle/>
          <a:p>
            <a:r>
              <a:rPr lang="en-US" dirty="0"/>
              <a:t>IOT IN TRANSPORTATION </a:t>
            </a:r>
          </a:p>
        </p:txBody>
      </p:sp>
      <p:pic>
        <p:nvPicPr>
          <p:cNvPr id="4" name="Content Placeholder 3">
            <a:extLst>
              <a:ext uri="{FF2B5EF4-FFF2-40B4-BE49-F238E27FC236}">
                <a16:creationId xmlns:a16="http://schemas.microsoft.com/office/drawing/2014/main" id="{87D1E72D-61F5-850A-8DC7-59CB2D4F0D84}"/>
              </a:ext>
            </a:extLst>
          </p:cNvPr>
          <p:cNvPicPr>
            <a:picLocks noGrp="1" noChangeAspect="1"/>
          </p:cNvPicPr>
          <p:nvPr>
            <p:ph idx="1"/>
          </p:nvPr>
        </p:nvPicPr>
        <p:blipFill>
          <a:blip r:embed="rId2"/>
          <a:stretch>
            <a:fillRect/>
          </a:stretch>
        </p:blipFill>
        <p:spPr>
          <a:xfrm>
            <a:off x="1768018" y="2287667"/>
            <a:ext cx="7643808" cy="4120842"/>
          </a:xfrm>
        </p:spPr>
      </p:pic>
    </p:spTree>
    <p:extLst>
      <p:ext uri="{BB962C8B-B14F-4D97-AF65-F5344CB8AC3E}">
        <p14:creationId xmlns:p14="http://schemas.microsoft.com/office/powerpoint/2010/main" val="1558839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46DCB-D5F4-1ED8-B54F-24972E77DAB7}"/>
              </a:ext>
            </a:extLst>
          </p:cNvPr>
          <p:cNvSpPr>
            <a:spLocks noGrp="1"/>
          </p:cNvSpPr>
          <p:nvPr>
            <p:ph type="title"/>
          </p:nvPr>
        </p:nvSpPr>
        <p:spPr/>
        <p:txBody>
          <a:bodyPr/>
          <a:lstStyle/>
          <a:p>
            <a:r>
              <a:rPr lang="en-US" dirty="0">
                <a:latin typeface="Bodoni MT Black" panose="02000000000000000000" pitchFamily="2" charset="0"/>
                <a:ea typeface="Bodoni MT Black" panose="02000000000000000000" pitchFamily="2" charset="0"/>
              </a:rPr>
              <a:t>INTERNET OF THINGS</a:t>
            </a:r>
          </a:p>
        </p:txBody>
      </p:sp>
      <p:sp>
        <p:nvSpPr>
          <p:cNvPr id="6" name="Content Placeholder 5">
            <a:extLst>
              <a:ext uri="{FF2B5EF4-FFF2-40B4-BE49-F238E27FC236}">
                <a16:creationId xmlns:a16="http://schemas.microsoft.com/office/drawing/2014/main" id="{49C989AE-92F0-068A-BFE5-E2E9F3498FDD}"/>
              </a:ext>
            </a:extLst>
          </p:cNvPr>
          <p:cNvSpPr>
            <a:spLocks noGrp="1"/>
          </p:cNvSpPr>
          <p:nvPr>
            <p:ph idx="1"/>
          </p:nvPr>
        </p:nvSpPr>
        <p:spPr/>
        <p:txBody>
          <a:bodyPr>
            <a:normAutofit/>
          </a:bodyPr>
          <a:lstStyle/>
          <a:p>
            <a:r>
              <a:rPr lang="en-US" sz="2400" b="1" dirty="0"/>
              <a:t>Submitted by ,</a:t>
            </a:r>
          </a:p>
          <a:p>
            <a:r>
              <a:rPr lang="en-US" sz="2400" b="1" dirty="0" err="1"/>
              <a:t>Name:V.Kanimozhi</a:t>
            </a:r>
            <a:r>
              <a:rPr lang="en-US" sz="2400" b="1" dirty="0"/>
              <a:t> </a:t>
            </a:r>
          </a:p>
          <a:p>
            <a:r>
              <a:rPr lang="en-US" sz="2400" b="1" dirty="0" err="1"/>
              <a:t>Year:III</a:t>
            </a:r>
            <a:endParaRPr lang="en-US" sz="2400" b="1" dirty="0"/>
          </a:p>
          <a:p>
            <a:r>
              <a:rPr lang="en-US" sz="2400" b="1" dirty="0"/>
              <a:t>DEPT:COMPUTING SCIENCE AND ENGINEERING </a:t>
            </a:r>
          </a:p>
          <a:p>
            <a:r>
              <a:rPr lang="en-US" sz="2400" b="1" dirty="0"/>
              <a:t>COLLEGE:UNIVERSITY COLLEGE OF ENGINEERING,TIRUKKUVALAI </a:t>
            </a:r>
          </a:p>
        </p:txBody>
      </p:sp>
      <p:sp>
        <p:nvSpPr>
          <p:cNvPr id="7" name="Text Placeholder 6">
            <a:extLst>
              <a:ext uri="{FF2B5EF4-FFF2-40B4-BE49-F238E27FC236}">
                <a16:creationId xmlns:a16="http://schemas.microsoft.com/office/drawing/2014/main" id="{3CE189DD-43C9-8E1B-62E6-417AB00C2F74}"/>
              </a:ext>
            </a:extLst>
          </p:cNvPr>
          <p:cNvSpPr>
            <a:spLocks noGrp="1"/>
          </p:cNvSpPr>
          <p:nvPr>
            <p:ph type="body" sz="half" idx="2"/>
          </p:nvPr>
        </p:nvSpPr>
        <p:spPr>
          <a:xfrm>
            <a:off x="1154954" y="3129281"/>
            <a:ext cx="3456012" cy="2734162"/>
          </a:xfrm>
        </p:spPr>
        <p:txBody>
          <a:bodyPr>
            <a:normAutofit/>
          </a:bodyPr>
          <a:lstStyle/>
          <a:p>
            <a:r>
              <a:rPr lang="en-US" sz="2800" b="1" dirty="0">
                <a:solidFill>
                  <a:schemeClr val="bg1"/>
                </a:solidFill>
                <a:latin typeface="Bodoni MT Black" panose="02070A03080606020203" pitchFamily="18" charset="0"/>
              </a:rPr>
              <a:t>PROJECT NAME</a:t>
            </a:r>
            <a:r>
              <a:rPr lang="en-US" b="1" dirty="0">
                <a:solidFill>
                  <a:schemeClr val="bg1"/>
                </a:solidFill>
                <a:latin typeface="Bodoni MT Black" panose="02070A03080606020203" pitchFamily="18" charset="0"/>
              </a:rPr>
              <a:t>:</a:t>
            </a:r>
          </a:p>
          <a:p>
            <a:r>
              <a:rPr lang="en-US" sz="2800" b="1" dirty="0">
                <a:solidFill>
                  <a:schemeClr val="bg1"/>
                </a:solidFill>
                <a:latin typeface="Bodoni MT Black" panose="02070A03080606020203" pitchFamily="18" charset="0"/>
              </a:rPr>
              <a:t>PUBLIC TRANSPORT </a:t>
            </a:r>
          </a:p>
          <a:p>
            <a:r>
              <a:rPr lang="en-US" sz="2800" b="1" dirty="0">
                <a:solidFill>
                  <a:schemeClr val="bg1"/>
                </a:solidFill>
                <a:latin typeface="Bodoni MT Black" panose="02070A03080606020203" pitchFamily="18" charset="0"/>
              </a:rPr>
              <a:t>OPTIMIZATION </a:t>
            </a:r>
          </a:p>
        </p:txBody>
      </p:sp>
      <p:sp>
        <p:nvSpPr>
          <p:cNvPr id="3" name="TextBox 2">
            <a:extLst>
              <a:ext uri="{FF2B5EF4-FFF2-40B4-BE49-F238E27FC236}">
                <a16:creationId xmlns:a16="http://schemas.microsoft.com/office/drawing/2014/main" id="{3E0DBC15-193E-1DA4-B2B3-9D61F35CBC40}"/>
              </a:ext>
            </a:extLst>
          </p:cNvPr>
          <p:cNvSpPr txBox="1"/>
          <p:nvPr/>
        </p:nvSpPr>
        <p:spPr>
          <a:xfrm>
            <a:off x="5182191" y="2502176"/>
            <a:ext cx="1828800" cy="1828800"/>
          </a:xfrm>
          <a:prstGeom prst="rect">
            <a:avLst/>
          </a:prstGeom>
          <a:noFill/>
        </p:spPr>
        <p:txBody>
          <a:bodyPr wrap="square" rtlCol="0">
            <a:spAutoFit/>
          </a:bodyPr>
          <a:lstStyle/>
          <a:p>
            <a:pPr algn="l"/>
            <a:endParaRPr lang="en-US" dirty="0"/>
          </a:p>
        </p:txBody>
      </p:sp>
    </p:spTree>
    <p:extLst>
      <p:ext uri="{BB962C8B-B14F-4D97-AF65-F5344CB8AC3E}">
        <p14:creationId xmlns:p14="http://schemas.microsoft.com/office/powerpoint/2010/main" val="31266331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TF10001029">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TF10001029" id="{ED3996BA-162B-43C7-B0E2-A5CA4E649741}" vid="{187088E4-27D7-4455-856F-4A44258D82E2}"/>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TF10001029</vt:lpstr>
      <vt:lpstr>INTERNET OF THINGS </vt:lpstr>
      <vt:lpstr>Definition </vt:lpstr>
      <vt:lpstr>Design Thinking </vt:lpstr>
      <vt:lpstr>machine learning algorithms to improve arrival time prediction accuracy based on historical data and traffic conditions.</vt:lpstr>
      <vt:lpstr>Deep Belife Network (DBF)</vt:lpstr>
      <vt:lpstr>Random Forest(RF)</vt:lpstr>
      <vt:lpstr>PowerPoint Presentation</vt:lpstr>
      <vt:lpstr>PowerPoint Presentation</vt:lpstr>
      <vt:lpstr>Conclusion </vt:lpstr>
      <vt:lpstr>INTRODUCTION </vt:lpstr>
      <vt:lpstr>Benefits of IoT for logistics and transportation </vt:lpstr>
      <vt:lpstr>Challenges of IoT for logistics and transportation </vt:lpstr>
      <vt:lpstr>Best practices for IoT for logistics and transportation </vt:lpstr>
      <vt:lpstr>Examples </vt:lpstr>
      <vt:lpstr>IOT IN TRANSPORTATION </vt:lpstr>
      <vt:lpstr>INTERNET OF THINGS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OF THINGS </dc:title>
  <dc:creator>916369815502</dc:creator>
  <cp:lastModifiedBy>918838165036</cp:lastModifiedBy>
  <cp:revision>3</cp:revision>
  <dcterms:created xsi:type="dcterms:W3CDTF">2023-09-30T14:53:10Z</dcterms:created>
  <dcterms:modified xsi:type="dcterms:W3CDTF">2023-10-01T09:47:46Z</dcterms:modified>
</cp:coreProperties>
</file>